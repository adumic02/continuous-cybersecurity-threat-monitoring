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530" r:id="rId5"/>
    <p:sldId id="531" r:id="rId6"/>
    <p:sldId id="555" r:id="rId7"/>
    <p:sldId id="556" r:id="rId8"/>
    <p:sldId id="557" r:id="rId9"/>
    <p:sldId id="558" r:id="rId10"/>
    <p:sldId id="559" r:id="rId11"/>
    <p:sldId id="561" r:id="rId12"/>
    <p:sldId id="534" r:id="rId13"/>
    <p:sldId id="538" r:id="rId14"/>
    <p:sldId id="539" r:id="rId15"/>
    <p:sldId id="548" r:id="rId16"/>
    <p:sldId id="547" r:id="rId17"/>
    <p:sldId id="549" r:id="rId18"/>
    <p:sldId id="550" r:id="rId19"/>
    <p:sldId id="551" r:id="rId20"/>
    <p:sldId id="552" r:id="rId21"/>
    <p:sldId id="554" r:id="rId22"/>
    <p:sldId id="54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22EE"/>
    <a:srgbClr val="F01688"/>
    <a:srgbClr val="2F21F3"/>
    <a:srgbClr val="FEB52B"/>
    <a:srgbClr val="F01689"/>
    <a:srgbClr val="6F22E3"/>
    <a:srgbClr val="E218A3"/>
    <a:srgbClr val="BA20DB"/>
    <a:srgbClr val="6A23F1"/>
    <a:srgbClr val="2F2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22"/>
  </p:normalViewPr>
  <p:slideViewPr>
    <p:cSldViewPr snapToGrid="0">
      <p:cViewPr varScale="1">
        <p:scale>
          <a:sx n="52" d="100"/>
          <a:sy n="52" d="100"/>
        </p:scale>
        <p:origin x="85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10/28/2025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transition spd="slow">
    <p:push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2241296"/>
          </a:xfrm>
        </p:spPr>
        <p:txBody>
          <a:bodyPr/>
          <a:lstStyle/>
          <a:p>
            <a:r>
              <a:rPr lang="hr-HR" b="1" dirty="0"/>
              <a:t>Fakultet organizacije i informatike</a:t>
            </a:r>
          </a:p>
          <a:p>
            <a:r>
              <a:rPr lang="hr-HR" b="1" dirty="0"/>
              <a:t>Sigurnost organizacijskih sustava</a:t>
            </a:r>
          </a:p>
          <a:p>
            <a:r>
              <a:rPr lang="hr-HR" b="1" dirty="0"/>
              <a:t>Studenti: Zdravko Blažević, Antonio Dumić, Jakov Glavač, Matko Kekez</a:t>
            </a:r>
          </a:p>
          <a:p>
            <a:r>
              <a:rPr lang="hr-HR" b="1" dirty="0"/>
              <a:t>Mentor: Izv. prof. dr. sc. Igor Tomičić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r-HR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sadržaj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95144"/>
            <a:ext cx="7383219" cy="3502152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Uvod</a:t>
            </a:r>
            <a:r>
              <a:rPr lang="hr-HR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u praćenje kibernetičkih sustava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hr-HR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Osnove kontinuiranog praćenja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hr-HR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IDS i SIEM sustavi</a:t>
            </a:r>
            <a:r>
              <a:rPr lang="hr-HR" sz="18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</a:p>
          <a:p>
            <a:pPr>
              <a:spcBef>
                <a:spcPts val="600"/>
              </a:spcBef>
            </a:pPr>
            <a:r>
              <a:rPr lang="hr-HR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A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naliza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i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bilježenje</a:t>
            </a: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događaja</a:t>
            </a:r>
            <a:endParaRPr lang="hr-HR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>
              <a:spcBef>
                <a:spcPts val="600"/>
              </a:spcBef>
            </a:pPr>
            <a:r>
              <a:rPr lang="hr-HR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Odgovor na incidente 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Plan rada</a:t>
            </a:r>
          </a:p>
          <a:p>
            <a:pPr>
              <a:spcBef>
                <a:spcPts val="600"/>
              </a:spcBef>
            </a:pPr>
            <a:r>
              <a:rPr lang="en-US" sz="1800" dirty="0" err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Literatura</a:t>
            </a:r>
            <a:endParaRPr lang="en-US" sz="18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66343" y="6190488"/>
            <a:ext cx="4447402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22646-9D73-E17E-6D92-51228CF60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DFDD5AE-1F09-6889-5E3F-2F7D29E2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04B92-0A94-DD03-45FB-6DC9D4D6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049364"/>
            <a:ext cx="7530085" cy="3984567"/>
          </a:xfrm>
        </p:spPr>
        <p:txBody>
          <a:bodyPr/>
          <a:lstStyle/>
          <a:p>
            <a:r>
              <a:rPr lang="hr-HR" dirty="0"/>
              <a:t>Stalni nadzor informacijskih sustava, mrežnog prometa i sigurnosnih događaja [1]</a:t>
            </a:r>
          </a:p>
          <a:p>
            <a:r>
              <a:rPr lang="hr-HR" dirty="0"/>
              <a:t>Cilj: rano otkrivanje prijetnji i brza reakcija [1]</a:t>
            </a:r>
          </a:p>
          <a:p>
            <a:r>
              <a:rPr lang="hr-HR" dirty="0"/>
              <a:t>Današnje prijetnje su sve sofisticiranije i automatiziranije [1]</a:t>
            </a:r>
          </a:p>
          <a:p>
            <a:r>
              <a:rPr lang="hr-HR" dirty="0"/>
              <a:t>Potrebno je preći s povremenih provjera na kontinuirani nadzor [1]</a:t>
            </a:r>
          </a:p>
          <a:p>
            <a:r>
              <a:rPr lang="hr-HR" dirty="0"/>
              <a:t>Prednosti: brža detekcija anomalija, kraće vrijeme reakcije, bolja vidljivost sigurnosnog stanja [1]</a:t>
            </a:r>
          </a:p>
          <a:p>
            <a:r>
              <a:rPr lang="hr-HR" dirty="0"/>
              <a:t>Cilj projekta: simulacija mrežnog okruženja u </a:t>
            </a:r>
            <a:r>
              <a:rPr lang="hr-HR" dirty="0" err="1"/>
              <a:t>VirtualBoxu</a:t>
            </a:r>
            <a:r>
              <a:rPr lang="hr-HR" dirty="0"/>
              <a:t> s alatima Security </a:t>
            </a:r>
            <a:r>
              <a:rPr lang="hr-HR" dirty="0" err="1"/>
              <a:t>Onion</a:t>
            </a:r>
            <a:r>
              <a:rPr lang="hr-HR" dirty="0"/>
              <a:t>, ELK </a:t>
            </a:r>
            <a:r>
              <a:rPr lang="hr-HR" dirty="0" err="1"/>
              <a:t>Stack</a:t>
            </a:r>
            <a:r>
              <a:rPr lang="hr-HR" dirty="0"/>
              <a:t>, </a:t>
            </a:r>
            <a:r>
              <a:rPr lang="hr-HR" dirty="0" err="1"/>
              <a:t>Suricata</a:t>
            </a:r>
            <a:r>
              <a:rPr lang="hr-HR" dirty="0"/>
              <a:t>, </a:t>
            </a:r>
            <a:r>
              <a:rPr lang="hr-HR" dirty="0" err="1"/>
              <a:t>Wazuh</a:t>
            </a:r>
            <a:r>
              <a:rPr lang="hr-HR" dirty="0"/>
              <a:t> </a:t>
            </a:r>
          </a:p>
          <a:p>
            <a:endParaRPr lang="hr-HR" dirty="0"/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AD22A8-6730-C6AC-7B10-C3F33598D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D1EC3FC-F585-1CB5-CA02-06D8B8C223F6}"/>
              </a:ext>
            </a:extLst>
          </p:cNvPr>
          <p:cNvSpPr txBox="1">
            <a:spLocks/>
          </p:cNvSpPr>
          <p:nvPr/>
        </p:nvSpPr>
        <p:spPr>
          <a:xfrm>
            <a:off x="1545336" y="822960"/>
            <a:ext cx="8878824" cy="1069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/>
              <a:t>KONTINUIRANO PRAĆENJE KIBERNETIČKIH PRIJETNJI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94413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EE97-9C26-BEB2-C20B-D06F207A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B7C03E-0140-8F1C-F3D4-6682EF89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F161D-CB4C-65C0-4C76-0BE0B624D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1913313"/>
            <a:ext cx="8153481" cy="4277175"/>
          </a:xfrm>
        </p:spPr>
        <p:txBody>
          <a:bodyPr/>
          <a:lstStyle/>
          <a:p>
            <a:r>
              <a:rPr lang="hr-HR" dirty="0"/>
              <a:t>C</a:t>
            </a:r>
            <a:r>
              <a:rPr lang="en-US" dirty="0" err="1"/>
              <a:t>ontinuous</a:t>
            </a:r>
            <a:r>
              <a:rPr lang="en-US" dirty="0"/>
              <a:t> monitoring </a:t>
            </a:r>
            <a:r>
              <a:rPr lang="hr-HR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proaktivan</a:t>
            </a:r>
            <a:r>
              <a:rPr lang="en-US" dirty="0"/>
              <a:t> </a:t>
            </a:r>
            <a:r>
              <a:rPr lang="en-US" dirty="0" err="1"/>
              <a:t>pristup</a:t>
            </a:r>
            <a:r>
              <a:rPr lang="en-US" dirty="0"/>
              <a:t> </a:t>
            </a:r>
            <a:r>
              <a:rPr lang="en-US" dirty="0" err="1"/>
              <a:t>sigurnosti</a:t>
            </a:r>
            <a:endParaRPr lang="en-US" dirty="0"/>
          </a:p>
          <a:p>
            <a:r>
              <a:rPr lang="hr-HR" dirty="0"/>
              <a:t>S</a:t>
            </a:r>
            <a:r>
              <a:rPr lang="en-US" dirty="0" err="1"/>
              <a:t>talno</a:t>
            </a:r>
            <a:r>
              <a:rPr lang="en-US" dirty="0"/>
              <a:t> </a:t>
            </a:r>
            <a:r>
              <a:rPr lang="en-US" dirty="0" err="1"/>
              <a:t>prikupljanje</a:t>
            </a:r>
            <a:r>
              <a:rPr lang="en-US" dirty="0"/>
              <a:t>,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evaluacija</a:t>
            </a:r>
            <a:r>
              <a:rPr lang="en-US" dirty="0"/>
              <a:t> </a:t>
            </a:r>
            <a:r>
              <a:rPr lang="en-US" dirty="0" err="1"/>
              <a:t>sigurnosnih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u </a:t>
            </a:r>
            <a:r>
              <a:rPr lang="en-US" dirty="0" err="1"/>
              <a:t>stvarnom</a:t>
            </a:r>
            <a:r>
              <a:rPr lang="en-US" dirty="0"/>
              <a:t> </a:t>
            </a:r>
            <a:r>
              <a:rPr lang="en-US" dirty="0" err="1"/>
              <a:t>vremenu</a:t>
            </a:r>
            <a:endParaRPr lang="en-US" dirty="0"/>
          </a:p>
          <a:p>
            <a:r>
              <a:rPr lang="hr-HR" dirty="0"/>
              <a:t>O</a:t>
            </a:r>
            <a:r>
              <a:rPr lang="en-US" dirty="0" err="1"/>
              <a:t>mogućuje</a:t>
            </a:r>
            <a:r>
              <a:rPr lang="en-US" dirty="0"/>
              <a:t> </a:t>
            </a:r>
            <a:r>
              <a:rPr lang="en-US" dirty="0" err="1"/>
              <a:t>pravovremeno</a:t>
            </a:r>
            <a:r>
              <a:rPr lang="en-US" dirty="0"/>
              <a:t> </a:t>
            </a:r>
            <a:r>
              <a:rPr lang="en-US" dirty="0" err="1"/>
              <a:t>otkrivanje</a:t>
            </a:r>
            <a:r>
              <a:rPr lang="en-US" dirty="0"/>
              <a:t> </a:t>
            </a:r>
            <a:r>
              <a:rPr lang="en-US" dirty="0" err="1"/>
              <a:t>rizika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ranjivosti</a:t>
            </a:r>
            <a:endParaRPr lang="en-US" dirty="0"/>
          </a:p>
          <a:p>
            <a:r>
              <a:rPr lang="hr-HR" dirty="0"/>
              <a:t>C</a:t>
            </a:r>
            <a:r>
              <a:rPr lang="en-US" dirty="0" err="1"/>
              <a:t>ilj</a:t>
            </a:r>
            <a:r>
              <a:rPr lang="en-US" dirty="0"/>
              <a:t>: </a:t>
            </a:r>
            <a:r>
              <a:rPr lang="en-US" dirty="0" err="1"/>
              <a:t>stalna</a:t>
            </a:r>
            <a:r>
              <a:rPr lang="en-US" dirty="0"/>
              <a:t> </a:t>
            </a:r>
            <a:r>
              <a:rPr lang="en-US" dirty="0" err="1"/>
              <a:t>usklađenost</a:t>
            </a:r>
            <a:r>
              <a:rPr lang="en-US" dirty="0"/>
              <a:t> s </a:t>
            </a:r>
            <a:r>
              <a:rPr lang="en-US" dirty="0" err="1"/>
              <a:t>propisima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visoka</a:t>
            </a:r>
            <a:r>
              <a:rPr lang="en-US" dirty="0"/>
              <a:t> </a:t>
            </a:r>
            <a:r>
              <a:rPr lang="en-US" dirty="0" err="1"/>
              <a:t>razina</a:t>
            </a:r>
            <a:r>
              <a:rPr lang="en-US" dirty="0"/>
              <a:t> </a:t>
            </a:r>
            <a:r>
              <a:rPr lang="en-US" dirty="0" err="1"/>
              <a:t>sigurnosne</a:t>
            </a:r>
            <a:r>
              <a:rPr lang="en-US" dirty="0"/>
              <a:t> </a:t>
            </a:r>
            <a:r>
              <a:rPr lang="en-US" dirty="0" err="1"/>
              <a:t>spremnosti</a:t>
            </a:r>
            <a:endParaRPr lang="en-US" dirty="0"/>
          </a:p>
          <a:p>
            <a:r>
              <a:rPr lang="hr-HR" dirty="0"/>
              <a:t>P</a:t>
            </a:r>
            <a:r>
              <a:rPr lang="en-US" dirty="0" err="1"/>
              <a:t>ovezanost</a:t>
            </a:r>
            <a:r>
              <a:rPr lang="en-US" dirty="0"/>
              <a:t> s </a:t>
            </a:r>
            <a:r>
              <a:rPr lang="en-US" dirty="0" err="1"/>
              <a:t>procesima</a:t>
            </a:r>
            <a:r>
              <a:rPr lang="hr-HR" dirty="0"/>
              <a:t> [1]</a:t>
            </a:r>
            <a:r>
              <a:rPr lang="en-US" dirty="0"/>
              <a:t>:</a:t>
            </a:r>
          </a:p>
          <a:p>
            <a:pPr lvl="1"/>
            <a:r>
              <a:rPr lang="hr-HR" dirty="0"/>
              <a:t>v</a:t>
            </a:r>
            <a:r>
              <a:rPr lang="en-US" dirty="0" err="1"/>
              <a:t>ulnerability</a:t>
            </a:r>
            <a:r>
              <a:rPr lang="en-US" dirty="0"/>
              <a:t> management</a:t>
            </a:r>
          </a:p>
          <a:p>
            <a:pPr lvl="1"/>
            <a:r>
              <a:rPr lang="en-US" dirty="0"/>
              <a:t>cyber threat intelligence</a:t>
            </a:r>
          </a:p>
          <a:p>
            <a:pPr lvl="1"/>
            <a:r>
              <a:rPr lang="en-US" dirty="0"/>
              <a:t>incident response</a:t>
            </a:r>
          </a:p>
          <a:p>
            <a:r>
              <a:rPr lang="hr-HR" dirty="0"/>
              <a:t>G</a:t>
            </a:r>
            <a:r>
              <a:rPr lang="en-US" dirty="0" err="1"/>
              <a:t>lavne</a:t>
            </a:r>
            <a:r>
              <a:rPr lang="en-US" dirty="0"/>
              <a:t> </a:t>
            </a:r>
            <a:r>
              <a:rPr lang="en-US" dirty="0" err="1"/>
              <a:t>komponente</a:t>
            </a:r>
            <a:r>
              <a:rPr lang="en-US" dirty="0"/>
              <a:t> </a:t>
            </a:r>
            <a:r>
              <a:rPr lang="en-US" dirty="0" err="1"/>
              <a:t>sustava</a:t>
            </a:r>
            <a:r>
              <a:rPr lang="hr-HR" dirty="0"/>
              <a:t> [1]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IDS (Intrusion Detection System)</a:t>
            </a:r>
          </a:p>
          <a:p>
            <a:pPr lvl="1"/>
            <a:r>
              <a:rPr lang="en-US" dirty="0"/>
              <a:t>SIEM (Security Information and Event Management)</a:t>
            </a:r>
          </a:p>
          <a:p>
            <a:pPr lvl="1"/>
            <a:r>
              <a:rPr lang="en-US" dirty="0" err="1"/>
              <a:t>alati</a:t>
            </a:r>
            <a:r>
              <a:rPr lang="en-US" dirty="0"/>
              <a:t> za </a:t>
            </a:r>
            <a:r>
              <a:rPr lang="en-US" dirty="0" err="1"/>
              <a:t>izvještavanje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vizualizaciju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Kibana)</a:t>
            </a:r>
          </a:p>
          <a:p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720B15-4864-4347-4B29-BB648450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E075AFD-B764-2989-FF61-72684F233E5E}"/>
              </a:ext>
            </a:extLst>
          </p:cNvPr>
          <p:cNvSpPr txBox="1">
            <a:spLocks/>
          </p:cNvSpPr>
          <p:nvPr/>
        </p:nvSpPr>
        <p:spPr>
          <a:xfrm>
            <a:off x="1545336" y="822960"/>
            <a:ext cx="8878824" cy="1069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/>
              <a:t>Osnove kontinuiranog praćenja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903373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BF8D-879F-EA62-C6F2-E3F1A86B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7ABD026-135C-3FCF-9983-80225FD11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B0D1070-6088-ABAF-A743-9ECCA3FE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8D7A3A8-8168-FE17-0F13-6BE5715BC73B}"/>
              </a:ext>
            </a:extLst>
          </p:cNvPr>
          <p:cNvSpPr txBox="1">
            <a:spLocks/>
          </p:cNvSpPr>
          <p:nvPr/>
        </p:nvSpPr>
        <p:spPr>
          <a:xfrm>
            <a:off x="1545336" y="822960"/>
            <a:ext cx="8878824" cy="6309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/>
              <a:t>IDS I SIEM sustavi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0C2C4AA-DDD8-F0A1-A88D-A19CD700F402}"/>
              </a:ext>
            </a:extLst>
          </p:cNvPr>
          <p:cNvSpPr txBox="1">
            <a:spLocks/>
          </p:cNvSpPr>
          <p:nvPr/>
        </p:nvSpPr>
        <p:spPr>
          <a:xfrm>
            <a:off x="1614238" y="1601308"/>
            <a:ext cx="7530085" cy="398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IDS i SIEM su temeljne tehnologije za nadzor sigurnosti</a:t>
            </a:r>
          </a:p>
          <a:p>
            <a:r>
              <a:rPr lang="hr-HR" dirty="0"/>
              <a:t>IDS (</a:t>
            </a:r>
            <a:r>
              <a:rPr lang="hr-HR" dirty="0" err="1"/>
              <a:t>Suricata</a:t>
            </a:r>
            <a:r>
              <a:rPr lang="hr-HR" dirty="0"/>
              <a:t>): prati mrežni promet, otkriva prijetnje putem pravila i potpisa [1]</a:t>
            </a:r>
          </a:p>
          <a:p>
            <a:r>
              <a:rPr lang="hr-HR" dirty="0"/>
              <a:t>SIEM (ELK </a:t>
            </a:r>
            <a:r>
              <a:rPr lang="hr-HR" dirty="0" err="1"/>
              <a:t>Stack</a:t>
            </a:r>
            <a:r>
              <a:rPr lang="hr-HR" dirty="0"/>
              <a:t>, </a:t>
            </a:r>
            <a:r>
              <a:rPr lang="hr-HR" dirty="0" err="1"/>
              <a:t>Wazuh</a:t>
            </a:r>
            <a:r>
              <a:rPr lang="hr-HR" dirty="0"/>
              <a:t>): centralizira i korelira podatke iz više izvora [1]</a:t>
            </a:r>
          </a:p>
          <a:p>
            <a:r>
              <a:rPr lang="hr-HR" dirty="0"/>
              <a:t>IDS </a:t>
            </a:r>
            <a:r>
              <a:rPr lang="hr-HR" dirty="0">
                <a:sym typeface="Wingdings" panose="05000000000000000000" pitchFamily="2" charset="2"/>
              </a:rPr>
              <a:t></a:t>
            </a:r>
            <a:r>
              <a:rPr lang="hr-HR" dirty="0"/>
              <a:t> detekcija na mrežnoj razini</a:t>
            </a:r>
          </a:p>
          <a:p>
            <a:r>
              <a:rPr lang="hr-HR" dirty="0"/>
              <a:t>SIEM nudi centralizirani pregled sigurnosnih događaja u cijeloj organizaciji [1]</a:t>
            </a:r>
          </a:p>
          <a:p>
            <a:r>
              <a:rPr lang="hr-HR" dirty="0"/>
              <a:t>Uloga u projektu:</a:t>
            </a:r>
          </a:p>
          <a:p>
            <a:pPr lvl="1"/>
            <a:r>
              <a:rPr lang="hr-HR" dirty="0" err="1"/>
              <a:t>Suricata</a:t>
            </a:r>
            <a:r>
              <a:rPr lang="hr-HR" dirty="0"/>
              <a:t>: detekcija mrežnih prijetnji</a:t>
            </a:r>
          </a:p>
          <a:p>
            <a:pPr lvl="1"/>
            <a:r>
              <a:rPr lang="hr-HR" dirty="0" err="1"/>
              <a:t>Wazuh</a:t>
            </a:r>
            <a:r>
              <a:rPr lang="hr-HR" dirty="0"/>
              <a:t>: prikupljanje logova, upravljanje incidentima, generiranje upozorenja</a:t>
            </a:r>
          </a:p>
          <a:p>
            <a:endParaRPr lang="hr-H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349687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19534-12CB-59AA-3273-CB92B0AA2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952A539-A1C7-E8C1-8088-CC0544D63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31CC87C-AA6D-D8A8-E399-B2965385D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499D92-5E71-4CAF-1EF1-17D956E8BB45}"/>
              </a:ext>
            </a:extLst>
          </p:cNvPr>
          <p:cNvSpPr txBox="1">
            <a:spLocks/>
          </p:cNvSpPr>
          <p:nvPr/>
        </p:nvSpPr>
        <p:spPr>
          <a:xfrm>
            <a:off x="1545336" y="822960"/>
            <a:ext cx="8878824" cy="1069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/>
              <a:t>Analiza i bilježenje događaja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FD45AC3-249C-57AB-82E6-811DFF75995D}"/>
              </a:ext>
            </a:extLst>
          </p:cNvPr>
          <p:cNvSpPr txBox="1">
            <a:spLocks/>
          </p:cNvSpPr>
          <p:nvPr/>
        </p:nvSpPr>
        <p:spPr>
          <a:xfrm>
            <a:off x="1545336" y="2050473"/>
            <a:ext cx="7530085" cy="398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Logovi – bilježe sve sigurnosno relevantne događaje u sustavu, temelj su za otkrivanje prijetnji i dokazivanje usklađenosti. [1]</a:t>
            </a:r>
          </a:p>
          <a:p>
            <a:r>
              <a:rPr lang="hr-HR" dirty="0" err="1"/>
              <a:t>Logstash</a:t>
            </a:r>
            <a:r>
              <a:rPr lang="hr-HR" dirty="0"/>
              <a:t> &amp; </a:t>
            </a:r>
            <a:r>
              <a:rPr lang="hr-HR" dirty="0" err="1"/>
              <a:t>Elasticsearch</a:t>
            </a:r>
            <a:r>
              <a:rPr lang="hr-HR" dirty="0"/>
              <a:t> – omogućuju automatizirano prikupljanje, filtriranje i indeksiranje logova iz različitih izvora</a:t>
            </a:r>
          </a:p>
          <a:p>
            <a:r>
              <a:rPr lang="hr-HR" dirty="0" err="1"/>
              <a:t>Kibana</a:t>
            </a:r>
            <a:r>
              <a:rPr lang="hr-HR" dirty="0"/>
              <a:t> – vizualizira prikupljene podatke kroz interaktivne </a:t>
            </a:r>
            <a:r>
              <a:rPr lang="hr-HR" dirty="0" err="1"/>
              <a:t>dashboarde</a:t>
            </a:r>
            <a:r>
              <a:rPr lang="hr-HR" dirty="0"/>
              <a:t>, olakšava analizu i brzinu reakcije na incidente. [1]</a:t>
            </a:r>
          </a:p>
        </p:txBody>
      </p:sp>
    </p:spTree>
    <p:extLst>
      <p:ext uri="{BB962C8B-B14F-4D97-AF65-F5344CB8AC3E}">
        <p14:creationId xmlns:p14="http://schemas.microsoft.com/office/powerpoint/2010/main" val="2993076893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38F38-88AB-C0E7-2C51-2306500B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A54933D-AD06-CDEE-8390-0D2E40C7F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6F91D9-FB58-355B-B2D1-9D4B2E7E0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D6C28F-DBE5-AFDF-EED5-57502B1855EE}"/>
              </a:ext>
            </a:extLst>
          </p:cNvPr>
          <p:cNvSpPr txBox="1">
            <a:spLocks/>
          </p:cNvSpPr>
          <p:nvPr/>
        </p:nvSpPr>
        <p:spPr>
          <a:xfrm>
            <a:off x="1545336" y="822960"/>
            <a:ext cx="8878824" cy="1069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r-HR" dirty="0"/>
              <a:t>Odgovor na incidente (Incident </a:t>
            </a:r>
            <a:r>
              <a:rPr lang="hr-HR" dirty="0" err="1"/>
              <a:t>Response</a:t>
            </a:r>
            <a:r>
              <a:rPr lang="hr-HR" dirty="0"/>
              <a:t>)</a:t>
            </a:r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8AEBC23-A864-0BB4-E726-3E183F967365}"/>
              </a:ext>
            </a:extLst>
          </p:cNvPr>
          <p:cNvSpPr txBox="1">
            <a:spLocks/>
          </p:cNvSpPr>
          <p:nvPr/>
        </p:nvSpPr>
        <p:spPr>
          <a:xfrm>
            <a:off x="1545336" y="2049364"/>
            <a:ext cx="7530085" cy="398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Odgovor na incidente (Incident </a:t>
            </a:r>
            <a:r>
              <a:rPr lang="hr-HR" dirty="0" err="1"/>
              <a:t>Response</a:t>
            </a:r>
            <a:r>
              <a:rPr lang="hr-HR" dirty="0"/>
              <a:t>):</a:t>
            </a:r>
          </a:p>
          <a:p>
            <a:pPr lvl="1"/>
            <a:r>
              <a:rPr lang="hr-HR" dirty="0"/>
              <a:t>Bitan dio sustava kibernetičke sigurnosti koji omogućuje brzo otkrivanje i sanaciju prijetnji.</a:t>
            </a:r>
          </a:p>
          <a:p>
            <a:pPr lvl="1"/>
            <a:r>
              <a:rPr lang="hr-HR" dirty="0"/>
              <a:t>Proces se sastoji od četiri faze: identifikacije, analize, odgovora i oporavka. </a:t>
            </a:r>
          </a:p>
          <a:p>
            <a:pPr lvl="1"/>
            <a:r>
              <a:rPr lang="hr-HR" dirty="0"/>
              <a:t>Kontinuirano praćenje sustava omogućuje brzo prepoznavanje prijetnji i smanjenje njihova utjecaja.</a:t>
            </a:r>
          </a:p>
          <a:p>
            <a:pPr lvl="1"/>
            <a:r>
              <a:rPr lang="hr-HR" dirty="0" err="1"/>
              <a:t>Wazuh</a:t>
            </a:r>
            <a:r>
              <a:rPr lang="hr-HR" dirty="0"/>
              <a:t> pomaže u procesu prikupljanjem i analizom logova, korelacijom događaja i automatskim generiranjem upozorenja u stvarnom vremenu. [1]</a:t>
            </a:r>
          </a:p>
          <a:p>
            <a:pPr lvl="1"/>
            <a:r>
              <a:rPr lang="hr-HR" dirty="0"/>
              <a:t>Sustav omogućuje otkrivanje situacija poput neovlaštenih pristupa, zlonamjernih aktivnosti, </a:t>
            </a:r>
            <a:r>
              <a:rPr lang="hr-HR" dirty="0" err="1"/>
              <a:t>DoS</a:t>
            </a:r>
            <a:r>
              <a:rPr lang="hr-HR" dirty="0"/>
              <a:t> napada i anomalija u mrežnom prometu, čime se osigurava brza reakcija i zaštita sustava. [1]</a:t>
            </a:r>
          </a:p>
          <a:p>
            <a:pPr marL="0" indent="0">
              <a:buNone/>
            </a:pP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205999166"/>
      </p:ext>
    </p:extLst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BF98-A68E-8F5A-5562-2245B0CAD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F7BC92F-A9D5-148E-8AC9-78FC837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09F5ED-D352-97ED-E8CA-43FB6E382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A8655BB-EF96-7089-C11F-510215B44DEA}"/>
              </a:ext>
            </a:extLst>
          </p:cNvPr>
          <p:cNvSpPr txBox="1">
            <a:spLocks/>
          </p:cNvSpPr>
          <p:nvPr/>
        </p:nvSpPr>
        <p:spPr>
          <a:xfrm>
            <a:off x="1545336" y="822960"/>
            <a:ext cx="8878824" cy="106984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all" spc="6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n-NO" dirty="0"/>
              <a:t>Kreiranje upozorenja i detekcija prijetnji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AAA2802-EFA0-A922-7068-7C585B7450DA}"/>
              </a:ext>
            </a:extLst>
          </p:cNvPr>
          <p:cNvSpPr txBox="1">
            <a:spLocks/>
          </p:cNvSpPr>
          <p:nvPr/>
        </p:nvSpPr>
        <p:spPr>
          <a:xfrm>
            <a:off x="1545336" y="2049364"/>
            <a:ext cx="7530085" cy="398456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8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4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Courier New" panose="02070309020205020404" pitchFamily="49" charset="0"/>
              <a:buChar char="o"/>
              <a:defRPr sz="1200" kern="120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IDS i SIEM sustavi koriste pravila (</a:t>
            </a:r>
            <a:r>
              <a:rPr lang="hr-HR" dirty="0" err="1"/>
              <a:t>rules</a:t>
            </a:r>
            <a:r>
              <a:rPr lang="hr-HR" dirty="0"/>
              <a:t>) za prepoznavanje sumnjivih aktivnosti.</a:t>
            </a:r>
          </a:p>
          <a:p>
            <a:r>
              <a:rPr lang="hr-HR" dirty="0"/>
              <a:t>Pravila definiraju uvjete poput neuobičajenog mrežnog prometa ili nepoznatih IP adresa. [1]</a:t>
            </a:r>
          </a:p>
          <a:p>
            <a:r>
              <a:rPr lang="hr-HR" dirty="0"/>
              <a:t>Kada se otkrije prijetnja, sustav automatski generira upozorenje (</a:t>
            </a:r>
            <a:r>
              <a:rPr lang="hr-HR" dirty="0" err="1"/>
              <a:t>alert</a:t>
            </a:r>
            <a:r>
              <a:rPr lang="hr-HR" dirty="0"/>
              <a:t>) i pokreće proces odgovora.</a:t>
            </a:r>
          </a:p>
          <a:p>
            <a:r>
              <a:rPr lang="hr-HR" dirty="0" err="1"/>
              <a:t>Kibana</a:t>
            </a:r>
            <a:r>
              <a:rPr lang="hr-HR" dirty="0"/>
              <a:t> omogućuje izradu interaktivnih nadzornih ploča koje prikazuju podatke u stvarnom vremenu. [1]</a:t>
            </a:r>
          </a:p>
          <a:p>
            <a:r>
              <a:rPr lang="hr-HR" dirty="0" err="1"/>
              <a:t>Wazuh</a:t>
            </a:r>
            <a:r>
              <a:rPr lang="hr-HR" dirty="0"/>
              <a:t> upravlja upozorenjima, kategorizira ih prema ozbiljnosti i vrsti prijetnje te može pokrenuti automatizirane radnje.  [1]</a:t>
            </a:r>
          </a:p>
          <a:p>
            <a:r>
              <a:rPr lang="hr-HR" dirty="0"/>
              <a:t>Sustavi omogućuju brzu analizu, otkrivanje anomalija i odgovor sigurnosnih timova. [1]</a:t>
            </a:r>
          </a:p>
          <a:p>
            <a:endParaRPr lang="hr-H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52258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PLAN RADA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9E45E-D6A7-9780-F652-BAF86DFBC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POSTAVLJANJE VIRTUALNOG OKRUŽENJA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577A64-4E94-69E1-3180-1E014BD0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22F651-7ABC-015D-B5C4-622708A64C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2203" y="2050473"/>
            <a:ext cx="7530085" cy="3984567"/>
          </a:xfrm>
        </p:spPr>
        <p:txBody>
          <a:bodyPr/>
          <a:lstStyle/>
          <a:p>
            <a:r>
              <a:rPr lang="hr-HR" b="1" dirty="0"/>
              <a:t>Instalirati VirtualBox</a:t>
            </a:r>
            <a:r>
              <a:rPr lang="hr-HR" dirty="0"/>
              <a:t> i osigurati da svi članovi tima imaju istu verziju</a:t>
            </a:r>
          </a:p>
          <a:p>
            <a:r>
              <a:rPr lang="hr-HR" b="1" dirty="0"/>
              <a:t>Kreirati mrežu VM-ova:</a:t>
            </a:r>
          </a:p>
          <a:p>
            <a:pPr lvl="1"/>
            <a:r>
              <a:rPr lang="hr-HR" b="1" dirty="0"/>
              <a:t>Security Onion Node</a:t>
            </a:r>
            <a:r>
              <a:rPr lang="hr-HR" dirty="0"/>
              <a:t> – glavni nadzorni čvor	</a:t>
            </a:r>
          </a:p>
          <a:p>
            <a:pPr lvl="1"/>
            <a:r>
              <a:rPr lang="hr-HR" b="1" dirty="0"/>
              <a:t>Enterprise Server VM</a:t>
            </a:r>
            <a:r>
              <a:rPr lang="hr-HR" dirty="0"/>
              <a:t> – web poslužitelj i poslužitelj baze podataka</a:t>
            </a:r>
          </a:p>
          <a:p>
            <a:pPr lvl="1"/>
            <a:r>
              <a:rPr lang="hr-HR" b="1" dirty="0"/>
              <a:t>2–3 Workstation VM-a</a:t>
            </a:r>
            <a:r>
              <a:rPr lang="hr-HR" dirty="0"/>
              <a:t> – simulacija korisnika</a:t>
            </a:r>
          </a:p>
          <a:p>
            <a:pPr lvl="1"/>
            <a:r>
              <a:rPr lang="hr-HR" b="1" dirty="0"/>
              <a:t>Attack VM</a:t>
            </a:r>
            <a:r>
              <a:rPr lang="hr-HR" dirty="0"/>
              <a:t> – koristi se za testiranje obrane ( s Nmapom i Metasploitom)</a:t>
            </a:r>
          </a:p>
          <a:p>
            <a:r>
              <a:rPr lang="hr-HR" b="1" dirty="0"/>
              <a:t>Postaviti internu mrežu u VirtualBoxu</a:t>
            </a:r>
            <a:r>
              <a:rPr lang="hr-HR" dirty="0"/>
              <a:t> (Internal Network) kako bi svi VM-ovi bili međusobno povezani</a:t>
            </a:r>
          </a:p>
          <a:p>
            <a:endParaRPr lang="hr-HR" dirty="0"/>
          </a:p>
          <a:p>
            <a:r>
              <a:rPr lang="hr-HR" b="1" dirty="0"/>
              <a:t>Vrijeme: </a:t>
            </a:r>
            <a:r>
              <a:rPr lang="hr-HR" dirty="0"/>
              <a:t>1-2 tjedna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F57080-19CA-8BBA-6050-8494551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765210901"/>
      </p:ext>
    </p:extLst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E73D4-535B-6DCC-2268-43A5E9E12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59"/>
            <a:ext cx="8878824" cy="1680095"/>
          </a:xfrm>
        </p:spPr>
        <p:txBody>
          <a:bodyPr/>
          <a:lstStyle/>
          <a:p>
            <a:r>
              <a:rPr lang="hr-HR" dirty="0"/>
              <a:t>INSTALACIJA I osnovna KONFUGURACIJA SECURITY ONION-A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9FCA3-0124-0FA6-220B-D72E8F803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11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135D3F1-0C33-3404-5D49-E70C9D100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660073"/>
            <a:ext cx="9496912" cy="3374967"/>
          </a:xfrm>
        </p:spPr>
        <p:txBody>
          <a:bodyPr/>
          <a:lstStyle/>
          <a:p>
            <a:r>
              <a:rPr lang="hr-HR" b="1" dirty="0"/>
              <a:t>Preuzeti i instalirati Security Onion</a:t>
            </a:r>
            <a:r>
              <a:rPr lang="hr-HR" dirty="0"/>
              <a:t> na jedan VM</a:t>
            </a:r>
          </a:p>
          <a:p>
            <a:r>
              <a:rPr lang="hr-HR" dirty="0"/>
              <a:t>Konfigurirati mrežni interfejs za </a:t>
            </a:r>
            <a:r>
              <a:rPr lang="hr-HR" b="1" dirty="0"/>
              <a:t>promatranje internog prometa</a:t>
            </a:r>
          </a:p>
          <a:p>
            <a:r>
              <a:rPr lang="hr-HR" dirty="0"/>
              <a:t>Provjeriti radi li osnovni nadzor (npr. pomoću Kibane ili Squil/Snort/Zeek dashboarda)</a:t>
            </a:r>
          </a:p>
          <a:p>
            <a:endParaRPr lang="hr-HR" dirty="0"/>
          </a:p>
          <a:p>
            <a:r>
              <a:rPr lang="hr-HR" b="1" dirty="0"/>
              <a:t>Vrijeme:</a:t>
            </a:r>
            <a:r>
              <a:rPr lang="hr-HR" dirty="0"/>
              <a:t> 1 tjedan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7ABA7-FC97-4D42-C4BC-897A88CF3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5103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1877080978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3E2FA-7485-F3F4-FB51-FB326B906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FD69-3A8A-EC76-A48A-EF554A95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59"/>
            <a:ext cx="8878824" cy="1643149"/>
          </a:xfrm>
        </p:spPr>
        <p:txBody>
          <a:bodyPr/>
          <a:lstStyle/>
          <a:p>
            <a:r>
              <a:rPr lang="hr-HR" dirty="0"/>
              <a:t>Generiranje mrežnog prometa i testiranje hvatanja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1A4E38F-CFDA-94EF-1FC1-5484C4C5E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ABAAE6-5C8A-44CB-87C2-3CD9F3BB8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2203" y="2623126"/>
            <a:ext cx="7530085" cy="3411913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hr-HR" b="1" dirty="0"/>
              <a:t>Generiranje normalnog prometa</a:t>
            </a:r>
          </a:p>
          <a:p>
            <a:pPr lvl="1"/>
            <a:r>
              <a:rPr lang="hr-HR" dirty="0"/>
              <a:t>Ručno pretraživanje webom, prijenos datoteka, e-mail testovi između VM-ova	</a:t>
            </a:r>
          </a:p>
          <a:p>
            <a:pPr lvl="1"/>
            <a:r>
              <a:rPr lang="hr-HR" dirty="0"/>
              <a:t>Generiranje automatskog prometa pomoću alata poput </a:t>
            </a:r>
            <a:r>
              <a:rPr lang="hr-HR" i="1" dirty="0"/>
              <a:t>iperf</a:t>
            </a:r>
            <a:r>
              <a:rPr lang="hr-HR" dirty="0"/>
              <a:t> ili </a:t>
            </a:r>
            <a:r>
              <a:rPr lang="hr-HR" i="1" dirty="0"/>
              <a:t>tcpreplay</a:t>
            </a:r>
          </a:p>
          <a:p>
            <a:pPr marL="342900" indent="-342900">
              <a:buFont typeface="+mj-lt"/>
              <a:buAutoNum type="arabicPeriod"/>
            </a:pPr>
            <a:r>
              <a:rPr lang="hr-HR" b="1" dirty="0"/>
              <a:t>Generiranje malicioznog prometa</a:t>
            </a:r>
          </a:p>
          <a:p>
            <a:pPr lvl="1"/>
            <a:r>
              <a:rPr lang="hr-HR" dirty="0"/>
              <a:t>Na napadačkom VM-u pokrenuti </a:t>
            </a:r>
            <a:r>
              <a:rPr lang="hr-HR" i="1" dirty="0"/>
              <a:t>nmap</a:t>
            </a:r>
            <a:r>
              <a:rPr lang="hr-HR" dirty="0"/>
              <a:t> skeniranje prema drugim VM-ovima</a:t>
            </a:r>
          </a:p>
          <a:p>
            <a:pPr lvl="1"/>
            <a:r>
              <a:rPr lang="hr-HR" dirty="0"/>
              <a:t>Provesti simulirane napade pomoću </a:t>
            </a:r>
            <a:r>
              <a:rPr lang="hr-HR" i="1" dirty="0"/>
              <a:t>Metasploit Frameworka</a:t>
            </a:r>
          </a:p>
          <a:p>
            <a:pPr marL="342900" indent="-342900">
              <a:buFont typeface="+mj-lt"/>
              <a:buAutoNum type="arabicPeriod"/>
            </a:pPr>
            <a:r>
              <a:rPr lang="hr-HR" b="1" dirty="0"/>
              <a:t>Provjera hvatanja prometa</a:t>
            </a:r>
          </a:p>
          <a:p>
            <a:pPr lvl="1"/>
            <a:r>
              <a:rPr lang="hr-HR" dirty="0"/>
              <a:t>U Kibani provjeriti zapise i nadzorne ploče u realnom vremenu</a:t>
            </a:r>
          </a:p>
          <a:p>
            <a:pPr lvl="1"/>
            <a:endParaRPr lang="hr-HR" b="1" dirty="0"/>
          </a:p>
          <a:p>
            <a:r>
              <a:rPr lang="hr-HR" b="1" dirty="0"/>
              <a:t>Vrijeme: </a:t>
            </a:r>
            <a:r>
              <a:rPr lang="hr-HR" dirty="0"/>
              <a:t>1-2 tjedna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7BC747-48E6-9DDE-BC37-B51A120BB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3879968518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50296-5DBC-D1B5-CC12-31860B83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F6972-9E19-B526-97A4-0B81957AF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59"/>
            <a:ext cx="8878824" cy="1162859"/>
          </a:xfrm>
        </p:spPr>
        <p:txBody>
          <a:bodyPr/>
          <a:lstStyle/>
          <a:p>
            <a:r>
              <a:rPr lang="hr-HR" dirty="0"/>
              <a:t>Implementacija IDS sustava (Suricata)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37C1A-3C48-545F-5B44-6A22350D5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13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1D762C2-8DB3-5E24-77F0-E6E22105A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142836"/>
            <a:ext cx="9496912" cy="3892204"/>
          </a:xfrm>
        </p:spPr>
        <p:txBody>
          <a:bodyPr/>
          <a:lstStyle/>
          <a:p>
            <a:r>
              <a:rPr lang="hr-HR" b="1" dirty="0"/>
              <a:t>Konfigurirati Suricatu</a:t>
            </a:r>
            <a:r>
              <a:rPr lang="hr-HR" dirty="0"/>
              <a:t> (softver za analizu mrežnog prometa i provjeru pravila za otkrivanje anomalija ili prijetnji)koja dolazi sa Security Onionom</a:t>
            </a:r>
          </a:p>
          <a:p>
            <a:r>
              <a:rPr lang="hr-HR" dirty="0"/>
              <a:t>Provjeriti postavljena pravila softvera i dodati prilagođena pravila (npr. za port scanning detekciju)</a:t>
            </a:r>
          </a:p>
          <a:p>
            <a:r>
              <a:rPr lang="hr-HR" dirty="0"/>
              <a:t>Testirati pravila generiranjem poznatih napada i provjeriti jesu li detektirani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b="1" dirty="0"/>
              <a:t>Vrijeme:</a:t>
            </a:r>
            <a:r>
              <a:rPr lang="hr-HR" dirty="0"/>
              <a:t> 1 tjedan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AF42B4-9A20-447E-E093-0AD315A6B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5103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4005727333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9BB79-18C1-2344-DB23-4B66ABD1A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C712D-D9F7-CEDE-5A98-E372E5316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Postavljanje i korištenje ELK Stack-a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5268A9-4411-622E-67C9-9D95AD19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45AD3-BB67-DAF4-E204-0CC5CB9A1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2203" y="2050473"/>
            <a:ext cx="7530085" cy="3984567"/>
          </a:xfrm>
        </p:spPr>
        <p:txBody>
          <a:bodyPr/>
          <a:lstStyle/>
          <a:p>
            <a:r>
              <a:rPr lang="hr-HR" b="1" dirty="0"/>
              <a:t>Konfigurirati Logstash</a:t>
            </a:r>
            <a:r>
              <a:rPr lang="hr-HR" dirty="0"/>
              <a:t> za prikupljanje logova sa svih VM-ova</a:t>
            </a:r>
          </a:p>
          <a:p>
            <a:r>
              <a:rPr lang="hr-HR" b="1" dirty="0"/>
              <a:t>Pohraniti logove u Elasticsearch</a:t>
            </a:r>
          </a:p>
          <a:p>
            <a:r>
              <a:rPr lang="hr-HR" b="1" dirty="0"/>
              <a:t>Kreirati vizualizacije i izvještaje u Kibani</a:t>
            </a:r>
          </a:p>
          <a:p>
            <a:endParaRPr lang="hr-HR" b="1" dirty="0"/>
          </a:p>
          <a:p>
            <a:r>
              <a:rPr lang="hr-HR" b="1" dirty="0"/>
              <a:t>Vrijeme: </a:t>
            </a:r>
            <a:r>
              <a:rPr lang="hr-HR" dirty="0"/>
              <a:t>1 tjedan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D83BE4-7AF8-4DDC-D6D7-169898575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4188361756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C9A05-5BCE-6B74-BC26-A0AEEAACB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77675-91C4-5815-EDC9-9DF9EC4E6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59"/>
            <a:ext cx="8878824" cy="1162859"/>
          </a:xfrm>
        </p:spPr>
        <p:txBody>
          <a:bodyPr/>
          <a:lstStyle/>
          <a:p>
            <a:r>
              <a:rPr lang="hr-HR" dirty="0"/>
              <a:t>Odgovaranje na incidente pomoću Wazuha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B5254-92C6-D448-E8C3-622923C13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15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421B18-1F17-D2AA-D61F-6C067481B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142836"/>
            <a:ext cx="9496912" cy="3892204"/>
          </a:xfrm>
        </p:spPr>
        <p:txBody>
          <a:bodyPr/>
          <a:lstStyle/>
          <a:p>
            <a:r>
              <a:rPr lang="hr-HR" b="1" dirty="0"/>
              <a:t>Instalirati i integrirati Wazuh</a:t>
            </a:r>
            <a:r>
              <a:rPr lang="hr-HR" dirty="0"/>
              <a:t> s postojećim ELK sustavom</a:t>
            </a:r>
          </a:p>
          <a:p>
            <a:r>
              <a:rPr lang="hr-HR" dirty="0"/>
              <a:t>Konfigurirati nadzor integriteta datoteka (FIM) i prikupljanje zapisa</a:t>
            </a:r>
          </a:p>
          <a:p>
            <a:r>
              <a:rPr lang="hr-HR" dirty="0"/>
              <a:t>Simulirati promjene sustavnih datoteka i analizirati reakciju Wazuha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b="1" dirty="0"/>
              <a:t>Vrijeme:</a:t>
            </a:r>
            <a:r>
              <a:rPr lang="hr-HR" dirty="0"/>
              <a:t> 1 tjedan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D6B899-4346-0530-6AB7-109CDF3FE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5103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1241031760"/>
      </p:ext>
    </p:extLst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FE072-EC0D-CA7F-2268-54489B00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19AE4-F2A8-8BEF-0BE9-E7F415C06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Izrada alert sustava i testiranje 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62CB501-4F34-9F0E-25A6-00D35F08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2BCA3-B11F-30AB-855C-A44FB6617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2203" y="2050473"/>
            <a:ext cx="7530085" cy="3984567"/>
          </a:xfrm>
        </p:spPr>
        <p:txBody>
          <a:bodyPr/>
          <a:lstStyle/>
          <a:p>
            <a:r>
              <a:rPr lang="hr-HR" dirty="0"/>
              <a:t>U Kibani definirati </a:t>
            </a:r>
            <a:r>
              <a:rPr lang="hr-HR" b="1" dirty="0"/>
              <a:t>pravila i uvjete</a:t>
            </a:r>
            <a:r>
              <a:rPr lang="hr-HR" dirty="0"/>
              <a:t> za generiranje upozorenja</a:t>
            </a:r>
          </a:p>
          <a:p>
            <a:r>
              <a:rPr lang="hr-HR" dirty="0"/>
              <a:t>Testirati automatske alarme za otkrivene napade (npr. nmap skeniranje)</a:t>
            </a:r>
          </a:p>
          <a:p>
            <a:r>
              <a:rPr lang="hr-HR" dirty="0"/>
              <a:t>Postaviti obavijesti putem e-maila ili nadzorne ploče</a:t>
            </a:r>
          </a:p>
          <a:p>
            <a:pPr marL="0" indent="0">
              <a:buNone/>
            </a:pPr>
            <a:endParaRPr lang="hr-HR" b="1" dirty="0"/>
          </a:p>
          <a:p>
            <a:r>
              <a:rPr lang="hr-HR" b="1" dirty="0"/>
              <a:t>Vrijeme: </a:t>
            </a:r>
            <a:r>
              <a:rPr lang="hr-HR" dirty="0"/>
              <a:t>1-2 tjedna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413D4F-D31A-A20B-ED16-5C8B600DE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1870149055"/>
      </p:ext>
    </p:extLst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7998-B13A-1255-8552-3F260C067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3503E-5876-F0AB-B1D0-149E1D835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59"/>
            <a:ext cx="8878824" cy="1162859"/>
          </a:xfrm>
        </p:spPr>
        <p:txBody>
          <a:bodyPr/>
          <a:lstStyle/>
          <a:p>
            <a:r>
              <a:rPr lang="hr-HR" dirty="0"/>
              <a:t>Izrada završnog izvješća i prezentacije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81626-9788-B7BD-50D0-44C36A25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17</a:t>
            </a:fld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E0CAEE7-F480-2528-D6A7-6C2B5C887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45336" y="2142836"/>
            <a:ext cx="9496912" cy="3892204"/>
          </a:xfrm>
        </p:spPr>
        <p:txBody>
          <a:bodyPr/>
          <a:lstStyle/>
          <a:p>
            <a:r>
              <a:rPr lang="hr-HR" dirty="0"/>
              <a:t>Dokumentirati cijeli projekt – konfiguracije, korištene alate i rezultate</a:t>
            </a:r>
          </a:p>
          <a:p>
            <a:r>
              <a:rPr lang="hr-HR" dirty="0"/>
              <a:t>Uključiti snimke zaslona iz Kibane, Suricate i Wazuha</a:t>
            </a:r>
          </a:p>
          <a:p>
            <a:r>
              <a:rPr lang="hr-HR" dirty="0"/>
              <a:t>Napraviti završnu prezentaciju i demonstraciju rada sustava</a:t>
            </a:r>
          </a:p>
          <a:p>
            <a:pPr marL="0" indent="0">
              <a:buNone/>
            </a:pPr>
            <a:endParaRPr lang="hr-HR" dirty="0"/>
          </a:p>
          <a:p>
            <a:r>
              <a:rPr lang="hr-HR" b="1" dirty="0"/>
              <a:t>Vrijeme:</a:t>
            </a:r>
            <a:r>
              <a:rPr lang="hr-HR" dirty="0"/>
              <a:t> 1 tjedan 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85F83-36A7-DB21-87B9-A621AAA36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5103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645677832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BCCD-3A8C-3C28-A589-EC2357DF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BB9-A8C9-9B5C-88C4-C56717DE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608676"/>
          </a:xfrm>
        </p:spPr>
        <p:txBody>
          <a:bodyPr/>
          <a:lstStyle/>
          <a:p>
            <a:r>
              <a:rPr lang="hr-HR" dirty="0"/>
              <a:t>literatura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E1C499C-6CCE-C60B-9B8F-AA38DF256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18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C86B86-E5AA-A459-F871-AAE1F84127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32203" y="1588655"/>
            <a:ext cx="7530085" cy="4446385"/>
          </a:xfrm>
        </p:spPr>
        <p:txBody>
          <a:bodyPr/>
          <a:lstStyle/>
          <a:p>
            <a:pPr marL="0" indent="0">
              <a:buNone/>
            </a:pPr>
            <a:r>
              <a:rPr lang="hr-HR" dirty="0"/>
              <a:t>[1] </a:t>
            </a:r>
            <a:r>
              <a:rPr lang="en-US" dirty="0"/>
              <a:t>Ebute, M. (2024). CONTINUOUS MONITORING AND ASSESSMENT MECHANISMS IN CYBERSECURITY: BEST PRACTICES FOR SUSTAINED PROTECTION OF CRITICAL ASSETS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F3A00EA-6856-A254-5F04-1853FC04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6343" y="6190488"/>
            <a:ext cx="4595183" cy="274320"/>
          </a:xfrm>
        </p:spPr>
        <p:txBody>
          <a:bodyPr/>
          <a:lstStyle/>
          <a:p>
            <a:r>
              <a:rPr lang="en-US" dirty="0"/>
              <a:t>Continuous Cybersecurity Threat Monitoring</a:t>
            </a:r>
          </a:p>
        </p:txBody>
      </p:sp>
    </p:spTree>
    <p:extLst>
      <p:ext uri="{BB962C8B-B14F-4D97-AF65-F5344CB8AC3E}">
        <p14:creationId xmlns:p14="http://schemas.microsoft.com/office/powerpoint/2010/main" val="1093520868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HVALA NA PAŽNJI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PITANJA?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infopath/2007/PartnerControls"/>
    <ds:schemaRef ds:uri="http://schemas.microsoft.com/sharepoint/v3"/>
    <ds:schemaRef ds:uri="16c05727-aa75-4e4a-9b5f-8a80a1165891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71af3243-3dd4-4a8d-8c0d-dd76da1f02a5"/>
    <ds:schemaRef ds:uri="230e9df3-be65-4c73-a93b-d1236ebd677e"/>
    <ds:schemaRef ds:uri="http://purl.org/dc/terms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228</TotalTime>
  <Words>1079</Words>
  <Application>Microsoft Office PowerPoint</Application>
  <PresentationFormat>Široki zaslon</PresentationFormat>
  <Paragraphs>154</Paragraphs>
  <Slides>19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Segoe UI Light</vt:lpstr>
      <vt:lpstr>Tw Cen MT</vt:lpstr>
      <vt:lpstr>Wingdings</vt:lpstr>
      <vt:lpstr>Office Theme</vt:lpstr>
      <vt:lpstr>Continuous Cybersecurity Threat Monitoring</vt:lpstr>
      <vt:lpstr>sadržaj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PLAN RADA</vt:lpstr>
      <vt:lpstr>POSTAVLJANJE VIRTUALNOG OKRUŽENJA</vt:lpstr>
      <vt:lpstr>INSTALACIJA I osnovna KONFUGURACIJA SECURITY ONION-A</vt:lpstr>
      <vt:lpstr>Generiranje mrežnog prometa i testiranje hvatanja</vt:lpstr>
      <vt:lpstr>Implementacija IDS sustava (Suricata) </vt:lpstr>
      <vt:lpstr>Postavljanje i korištenje ELK Stack-a</vt:lpstr>
      <vt:lpstr>Odgovaranje na incidente pomoću Wazuha </vt:lpstr>
      <vt:lpstr>Izrada alert sustava i testiranje </vt:lpstr>
      <vt:lpstr>Izrada završnog izvješća i prezentacije</vt:lpstr>
      <vt:lpstr>literatura</vt:lpstr>
      <vt:lpstr>HVALA NA PAŽNJI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Dumić</dc:creator>
  <cp:lastModifiedBy>Antonio Dumić</cp:lastModifiedBy>
  <cp:revision>18</cp:revision>
  <dcterms:created xsi:type="dcterms:W3CDTF">2025-10-28T12:07:57Z</dcterms:created>
  <dcterms:modified xsi:type="dcterms:W3CDTF">2025-10-28T17:21:37Z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